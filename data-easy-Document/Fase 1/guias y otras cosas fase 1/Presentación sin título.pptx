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Merriweath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Merriweather-bold.fntdata"/><Relationship Id="rId10" Type="http://schemas.openxmlformats.org/officeDocument/2006/relationships/slide" Target="slides/slide5.xml"/><Relationship Id="rId21" Type="http://schemas.openxmlformats.org/officeDocument/2006/relationships/font" Target="fonts/Merriweather-regular.fntdata"/><Relationship Id="rId13" Type="http://schemas.openxmlformats.org/officeDocument/2006/relationships/slide" Target="slides/slide8.xml"/><Relationship Id="rId24" Type="http://schemas.openxmlformats.org/officeDocument/2006/relationships/font" Target="fonts/Merriweather-boldItalic.fntdata"/><Relationship Id="rId12" Type="http://schemas.openxmlformats.org/officeDocument/2006/relationships/slide" Target="slides/slide7.xml"/><Relationship Id="rId23" Type="http://schemas.openxmlformats.org/officeDocument/2006/relationships/font" Target="fonts/Merriweather-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8841a978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8841a978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8841a978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88841a978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88841a978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88841a978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88841a978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88841a978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88841a978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88841a978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8841a978a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8841a978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8841a978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8841a978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8841a978a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8841a978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8841a978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8841a978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8841a978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8841a978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2904000" cy="108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4700"/>
              <a:t>DataEasy</a:t>
            </a:r>
            <a:endParaRPr sz="4700"/>
          </a:p>
        </p:txBody>
      </p:sp>
      <p:sp>
        <p:nvSpPr>
          <p:cNvPr id="65" name="Google Shape;65;p13"/>
          <p:cNvSpPr txBox="1"/>
          <p:nvPr>
            <p:ph idx="1" type="subTitle"/>
          </p:nvPr>
        </p:nvSpPr>
        <p:spPr>
          <a:xfrm>
            <a:off x="0" y="2655747"/>
            <a:ext cx="4242600" cy="933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Integrantes:</a:t>
            </a:r>
            <a:endParaRPr/>
          </a:p>
          <a:p>
            <a:pPr indent="0" lvl="0" marL="0" rtl="0" algn="l">
              <a:spcBef>
                <a:spcPts val="0"/>
              </a:spcBef>
              <a:spcAft>
                <a:spcPts val="0"/>
              </a:spcAft>
              <a:buNone/>
            </a:pPr>
            <a:r>
              <a:rPr lang="es"/>
              <a:t>Luis Reyes</a:t>
            </a:r>
            <a:endParaRPr/>
          </a:p>
          <a:p>
            <a:pPr indent="0" lvl="0" marL="0" rtl="0" algn="l">
              <a:spcBef>
                <a:spcPts val="0"/>
              </a:spcBef>
              <a:spcAft>
                <a:spcPts val="0"/>
              </a:spcAft>
              <a:buNone/>
            </a:pPr>
            <a:r>
              <a:rPr lang="es"/>
              <a:t>Alvaro Sanchez</a:t>
            </a:r>
            <a:endParaRPr/>
          </a:p>
          <a:p>
            <a:pPr indent="0" lvl="0" marL="0" rtl="0" algn="l">
              <a:spcBef>
                <a:spcPts val="0"/>
              </a:spcBef>
              <a:spcAft>
                <a:spcPts val="0"/>
              </a:spcAft>
              <a:buNone/>
            </a:pPr>
            <a:r>
              <a:rPr lang="es"/>
              <a:t>Diego De La Vega</a:t>
            </a:r>
            <a:endParaRPr/>
          </a:p>
        </p:txBody>
      </p:sp>
      <p:sp>
        <p:nvSpPr>
          <p:cNvPr id="66" name="Google Shape;66;p13"/>
          <p:cNvSpPr txBox="1"/>
          <p:nvPr/>
        </p:nvSpPr>
        <p:spPr>
          <a:xfrm>
            <a:off x="129550" y="2743200"/>
            <a:ext cx="38100" cy="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67" name="Google Shape;67;p13"/>
          <p:cNvSpPr txBox="1"/>
          <p:nvPr/>
        </p:nvSpPr>
        <p:spPr>
          <a:xfrm>
            <a:off x="5753100" y="3642350"/>
            <a:ext cx="2994600" cy="12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lt1"/>
                </a:solidFill>
                <a:latin typeface="Roboto"/>
                <a:ea typeface="Roboto"/>
                <a:cs typeface="Roboto"/>
                <a:sym typeface="Roboto"/>
              </a:rPr>
              <a:t>Profesor : </a:t>
            </a:r>
            <a:r>
              <a:rPr lang="es" sz="1100">
                <a:solidFill>
                  <a:schemeClr val="lt1"/>
                </a:solidFill>
                <a:latin typeface="Calibri"/>
                <a:ea typeface="Calibri"/>
                <a:cs typeface="Calibri"/>
                <a:sym typeface="Calibri"/>
              </a:rPr>
              <a:t>JORGE ALBERTO CASTRO SILVESTRE</a:t>
            </a:r>
            <a:endParaRPr sz="1100">
              <a:solidFill>
                <a:schemeClr val="lt1"/>
              </a:solidFill>
              <a:latin typeface="Calibri"/>
              <a:ea typeface="Calibri"/>
              <a:cs typeface="Calibri"/>
              <a:sym typeface="Calibri"/>
            </a:endParaRPr>
          </a:p>
          <a:p>
            <a:pPr indent="0" lvl="0" marL="0" rtl="0" algn="l">
              <a:spcBef>
                <a:spcPts val="0"/>
              </a:spcBef>
              <a:spcAft>
                <a:spcPts val="0"/>
              </a:spcAft>
              <a:buNone/>
            </a:pPr>
            <a:r>
              <a:rPr lang="es" sz="1300">
                <a:solidFill>
                  <a:schemeClr val="lt1"/>
                </a:solidFill>
                <a:latin typeface="Roboto"/>
                <a:ea typeface="Roboto"/>
                <a:cs typeface="Roboto"/>
                <a:sym typeface="Roboto"/>
              </a:rPr>
              <a:t>Sección</a:t>
            </a:r>
            <a:r>
              <a:rPr lang="es" sz="1300">
                <a:solidFill>
                  <a:schemeClr val="lt1"/>
                </a:solidFill>
                <a:latin typeface="Roboto"/>
                <a:ea typeface="Roboto"/>
                <a:cs typeface="Roboto"/>
                <a:sym typeface="Roboto"/>
              </a:rPr>
              <a:t> : 300D</a:t>
            </a:r>
            <a:endParaRPr sz="13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258400" y="249450"/>
            <a:ext cx="3706500" cy="67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Abstract</a:t>
            </a:r>
            <a:endParaRPr/>
          </a:p>
        </p:txBody>
      </p:sp>
      <p:sp>
        <p:nvSpPr>
          <p:cNvPr id="73" name="Google Shape;73;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English:</a:t>
            </a:r>
            <a:endParaRPr/>
          </a:p>
          <a:p>
            <a:pPr indent="0" lvl="0" marL="0" rtl="0" algn="l">
              <a:spcBef>
                <a:spcPts val="1200"/>
              </a:spcBef>
              <a:spcAft>
                <a:spcPts val="1200"/>
              </a:spcAft>
              <a:buNone/>
            </a:pPr>
            <a:r>
              <a:rPr lang="es" sz="1200">
                <a:latin typeface="Arial"/>
                <a:ea typeface="Arial"/>
                <a:cs typeface="Arial"/>
                <a:sym typeface="Arial"/>
              </a:rPr>
              <a:t>This project proposes the development of a responsive web application aimed at small and medium-sized businesses, with the goal of centralizing and optimizing key processes such as operational data management, inventory control, and automated report generation. Based on real-world analysis, it was identified that many existing solutions present technical barriers for users with limited digital experience. Therefore, we chose a platform accessible from any device, with an intuitive and adaptable interface. This enables a functional, scalable, and easy-to-implement solution for various user profiles within an organization.</a:t>
            </a:r>
            <a:endParaRPr sz="1200">
              <a:latin typeface="Arial"/>
              <a:ea typeface="Arial"/>
              <a:cs typeface="Arial"/>
              <a:sym typeface="Arial"/>
            </a:endParaRPr>
          </a:p>
        </p:txBody>
      </p:sp>
      <p:sp>
        <p:nvSpPr>
          <p:cNvPr id="74" name="Google Shape;74;p14"/>
          <p:cNvSpPr txBox="1"/>
          <p:nvPr/>
        </p:nvSpPr>
        <p:spPr>
          <a:xfrm>
            <a:off x="91450" y="922050"/>
            <a:ext cx="3375600" cy="29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chemeClr val="lt1"/>
                </a:solidFill>
              </a:rPr>
              <a:t>Español:</a:t>
            </a:r>
            <a:endParaRPr b="1" sz="1200">
              <a:solidFill>
                <a:schemeClr val="lt1"/>
              </a:solidFill>
            </a:endParaRPr>
          </a:p>
          <a:p>
            <a:pPr indent="0" lvl="0" marL="0" rtl="0" algn="l">
              <a:spcBef>
                <a:spcPts val="0"/>
              </a:spcBef>
              <a:spcAft>
                <a:spcPts val="0"/>
              </a:spcAft>
              <a:buNone/>
            </a:pPr>
            <a:r>
              <a:rPr lang="es" sz="1200">
                <a:solidFill>
                  <a:schemeClr val="lt1"/>
                </a:solidFill>
              </a:rPr>
              <a:t>Este proyecto propone el desarrollo de una aplicación web responsiva orientada a pequeñas y medianas empresas, con el objetivo de centralizar y optimizar procesos clave como la gestión de datos operativos, el control de inventario y la generación automatizada de reportes. A partir de un análisis del contexto real, se identificó que muchas soluciones existentes presentan barreras técnicas para usuarios con escasa experiencia digital. Por ello, se optó por una plataforma accesible desde cualquier dispositivo, con una interfaz intuitiva y adaptable. Lo que permite lograr una solución funcional, escalable y de fácil implementación para distintos perfiles de usuario dentro de una organización.</a:t>
            </a:r>
            <a:endParaRPr>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Relevancia del Proyecto</a:t>
            </a:r>
            <a:endParaRPr/>
          </a:p>
        </p:txBody>
      </p:sp>
      <p:sp>
        <p:nvSpPr>
          <p:cNvPr id="80" name="Google Shape;80;p15"/>
          <p:cNvSpPr txBox="1"/>
          <p:nvPr/>
        </p:nvSpPr>
        <p:spPr>
          <a:xfrm>
            <a:off x="441950" y="1508750"/>
            <a:ext cx="7521000" cy="29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rPr>
              <a:t>Muchas pymes gestionan sus procesos con herramientas improvisadas como hojas de cálculo, macros o Google Sheets, lo que dificulta la escalabilidad y genera errores.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s" sz="1200">
                <a:solidFill>
                  <a:schemeClr val="dk2"/>
                </a:solidFill>
              </a:rPr>
              <a:t>La falta de soluciones accesibles y adaptadas a usuarios sin conocimientos técnicos limita la digitalización de estas empresas.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s" sz="1200">
                <a:solidFill>
                  <a:schemeClr val="dk2"/>
                </a:solidFill>
              </a:rPr>
              <a:t>Una plataforma web, intuitiva y modular, permite mejorar la toma de decisiones, optimizar recursos y aumentar la eficiencia organizacional.</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s" sz="1200">
                <a:solidFill>
                  <a:schemeClr val="dk2"/>
                </a:solidFill>
              </a:rPr>
              <a:t>Este proyecto responde a una necesidad real en el mercado y busca ser una alternativa simple, pero potente, para quienes inician su transformación digital.</a:t>
            </a: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Competencias aplicadas al desarrollo del proyecto</a:t>
            </a:r>
            <a:endParaRPr/>
          </a:p>
        </p:txBody>
      </p:sp>
      <p:sp>
        <p:nvSpPr>
          <p:cNvPr id="86" name="Google Shape;86;p16"/>
          <p:cNvSpPr txBox="1"/>
          <p:nvPr/>
        </p:nvSpPr>
        <p:spPr>
          <a:xfrm>
            <a:off x="579125" y="2194550"/>
            <a:ext cx="7879200" cy="25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rPr>
              <a:t>Se aplica el desarrollo de soluciones tecnológicas efectivas, seguras y con foco en el usuario final.</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s" sz="1200">
                <a:solidFill>
                  <a:schemeClr val="dk2"/>
                </a:solidFill>
              </a:rPr>
              <a:t>Se pone en práctica la capacidad para modelar bases de datos, diseñar interfaces funcionales y trabajar en equipos colaborativos usando metodologías ágiles.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s" sz="1200">
                <a:solidFill>
                  <a:schemeClr val="dk2"/>
                </a:solidFill>
              </a:rPr>
              <a:t>Se fortalece la comunicación efectiva de ideas y resultados, tanto en la documentación como en la presentación del proyecto.</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R</a:t>
            </a:r>
            <a:r>
              <a:rPr lang="es"/>
              <a:t>elación con los intereses profesionales</a:t>
            </a:r>
            <a:endParaRPr/>
          </a:p>
        </p:txBody>
      </p:sp>
      <p:pic>
        <p:nvPicPr>
          <p:cNvPr id="92" name="Google Shape;92;p17" title="descargar.jpg"/>
          <p:cNvPicPr preferRelativeResize="0"/>
          <p:nvPr/>
        </p:nvPicPr>
        <p:blipFill>
          <a:blip r:embed="rId3">
            <a:alphaModFix/>
          </a:blip>
          <a:stretch>
            <a:fillRect/>
          </a:stretch>
        </p:blipFill>
        <p:spPr>
          <a:xfrm>
            <a:off x="259075" y="1947875"/>
            <a:ext cx="2790825" cy="1638300"/>
          </a:xfrm>
          <a:prstGeom prst="rect">
            <a:avLst/>
          </a:prstGeom>
          <a:noFill/>
          <a:ln>
            <a:noFill/>
          </a:ln>
        </p:spPr>
      </p:pic>
      <p:pic>
        <p:nvPicPr>
          <p:cNvPr id="93" name="Google Shape;93;p17" title="20231115_192033.jpg"/>
          <p:cNvPicPr preferRelativeResize="0"/>
          <p:nvPr/>
        </p:nvPicPr>
        <p:blipFill>
          <a:blip r:embed="rId4">
            <a:alphaModFix/>
          </a:blip>
          <a:stretch>
            <a:fillRect/>
          </a:stretch>
        </p:blipFill>
        <p:spPr>
          <a:xfrm>
            <a:off x="3392825" y="2770550"/>
            <a:ext cx="2143125" cy="2143125"/>
          </a:xfrm>
          <a:prstGeom prst="rect">
            <a:avLst/>
          </a:prstGeom>
          <a:noFill/>
          <a:ln>
            <a:noFill/>
          </a:ln>
        </p:spPr>
      </p:pic>
      <p:pic>
        <p:nvPicPr>
          <p:cNvPr id="94" name="Google Shape;94;p17" title="descargar (1).jpg"/>
          <p:cNvPicPr preferRelativeResize="0"/>
          <p:nvPr/>
        </p:nvPicPr>
        <p:blipFill>
          <a:blip r:embed="rId5">
            <a:alphaModFix/>
          </a:blip>
          <a:stretch>
            <a:fillRect/>
          </a:stretch>
        </p:blipFill>
        <p:spPr>
          <a:xfrm>
            <a:off x="6336025" y="2639388"/>
            <a:ext cx="2257425" cy="2028825"/>
          </a:xfrm>
          <a:prstGeom prst="rect">
            <a:avLst/>
          </a:prstGeom>
          <a:noFill/>
          <a:ln>
            <a:noFill/>
          </a:ln>
        </p:spPr>
      </p:pic>
      <p:pic>
        <p:nvPicPr>
          <p:cNvPr id="95" name="Google Shape;95;p17" title="descargar.jpg"/>
          <p:cNvPicPr preferRelativeResize="0"/>
          <p:nvPr/>
        </p:nvPicPr>
        <p:blipFill>
          <a:blip r:embed="rId3">
            <a:alphaModFix/>
          </a:blip>
          <a:stretch>
            <a:fillRect/>
          </a:stretch>
        </p:blipFill>
        <p:spPr>
          <a:xfrm>
            <a:off x="411475" y="2100275"/>
            <a:ext cx="2790825" cy="1638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Factibilidad del proyecto</a:t>
            </a:r>
            <a:endParaRPr/>
          </a:p>
        </p:txBody>
      </p:sp>
      <p:sp>
        <p:nvSpPr>
          <p:cNvPr id="101" name="Google Shape;101;p18"/>
          <p:cNvSpPr txBox="1"/>
          <p:nvPr/>
        </p:nvSpPr>
        <p:spPr>
          <a:xfrm>
            <a:off x="396525" y="1316300"/>
            <a:ext cx="4943100" cy="3210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dk1"/>
                </a:solidFill>
                <a:latin typeface="Roboto"/>
                <a:ea typeface="Roboto"/>
                <a:cs typeface="Roboto"/>
                <a:sym typeface="Roboto"/>
              </a:rPr>
              <a:t>El proyecto Data easy es factible de realizar dentro del marco de tiempo de la asignatura porque aplica de manera concreta conocimientos adquiridos durante la formación en la institución.</a:t>
            </a:r>
            <a:endParaRPr sz="1300">
              <a:solidFill>
                <a:schemeClr val="dk1"/>
              </a:solidFill>
              <a:latin typeface="Roboto"/>
              <a:ea typeface="Roboto"/>
              <a:cs typeface="Roboto"/>
              <a:sym typeface="Roboto"/>
            </a:endParaRPr>
          </a:p>
          <a:p>
            <a:pPr indent="0" lvl="0" marL="0" rtl="0" algn="l">
              <a:spcBef>
                <a:spcPts val="0"/>
              </a:spcBef>
              <a:spcAft>
                <a:spcPts val="0"/>
              </a:spcAft>
              <a:buNone/>
            </a:pPr>
            <a:r>
              <a:t/>
            </a:r>
            <a:endParaRPr sz="1300">
              <a:solidFill>
                <a:schemeClr val="dk1"/>
              </a:solidFill>
              <a:latin typeface="Roboto"/>
              <a:ea typeface="Roboto"/>
              <a:cs typeface="Roboto"/>
              <a:sym typeface="Roboto"/>
            </a:endParaRPr>
          </a:p>
          <a:p>
            <a:pPr indent="0" lvl="0" marL="0" rtl="0" algn="l">
              <a:spcBef>
                <a:spcPts val="0"/>
              </a:spcBef>
              <a:spcAft>
                <a:spcPts val="0"/>
              </a:spcAft>
              <a:buNone/>
            </a:pPr>
            <a:r>
              <a:rPr lang="es" sz="1300">
                <a:solidFill>
                  <a:schemeClr val="dk1"/>
                </a:solidFill>
                <a:latin typeface="Roboto"/>
                <a:ea typeface="Roboto"/>
                <a:cs typeface="Roboto"/>
                <a:sym typeface="Roboto"/>
              </a:rPr>
              <a:t>A lo largo de la carrera se han desarrollado competencias que permiten el desarrollo la cuales incluyen la gestión de proyectos informáticos tomando decisiones según necesidades del proyecto, la construcción de programas para solucionar necesidades de las organizaciones, resolución de vulnerabilidades, realización de pruebas de certificación,  gestión de la información con la utilización de técnicas para el análisis de datos y construcción de modelos arquitectónicos para el proyecto</a:t>
            </a:r>
            <a:endParaRPr sz="1300">
              <a:solidFill>
                <a:schemeClr val="dk1"/>
              </a:solidFill>
              <a:latin typeface="Roboto"/>
              <a:ea typeface="Roboto"/>
              <a:cs typeface="Roboto"/>
              <a:sym typeface="Roboto"/>
            </a:endParaRPr>
          </a:p>
          <a:p>
            <a:pPr indent="457200" lvl="0" marL="0" rtl="0" algn="just">
              <a:lnSpc>
                <a:spcPct val="115000"/>
              </a:lnSpc>
              <a:spcBef>
                <a:spcPts val="0"/>
              </a:spcBef>
              <a:spcAft>
                <a:spcPts val="0"/>
              </a:spcAft>
              <a:buNone/>
            </a:pPr>
            <a:r>
              <a:t/>
            </a:r>
            <a:endParaRPr sz="13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s" sz="1300">
                <a:solidFill>
                  <a:schemeClr val="dk1"/>
                </a:solidFill>
                <a:latin typeface="Roboto"/>
                <a:ea typeface="Roboto"/>
                <a:cs typeface="Roboto"/>
                <a:sym typeface="Roboto"/>
              </a:rPr>
              <a:t>También con la definición del proyecto de forma realista y acorde a las necesidades de la asignatura.</a:t>
            </a:r>
            <a:endParaRPr sz="13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Objetivos</a:t>
            </a:r>
            <a:endParaRPr/>
          </a:p>
        </p:txBody>
      </p:sp>
      <p:sp>
        <p:nvSpPr>
          <p:cNvPr id="107" name="Google Shape;107;p19"/>
          <p:cNvSpPr txBox="1"/>
          <p:nvPr/>
        </p:nvSpPr>
        <p:spPr>
          <a:xfrm>
            <a:off x="632450" y="1615450"/>
            <a:ext cx="4328100" cy="2621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s" sz="1200">
                <a:solidFill>
                  <a:schemeClr val="dk1"/>
                </a:solidFill>
              </a:rPr>
              <a:t>Diseñar una interfaz web intuitiva y modular.</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Implementar una base de datos que permita la normalización de la información.</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Integrar compatibilidad con archivos Excel para importar y organizar datos.</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Automatizar la generación de reportes visuales y exportables.</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Establecer un sistema de roles para gestionar el acceso de usuarios.</a:t>
            </a:r>
            <a:endParaRPr sz="1200">
              <a:solidFill>
                <a:schemeClr val="dk1"/>
              </a:solidFill>
            </a:endParaRPr>
          </a:p>
          <a:p>
            <a:pPr indent="-304800" lvl="0" marL="457200" rtl="0" algn="l">
              <a:spcBef>
                <a:spcPts val="0"/>
              </a:spcBef>
              <a:spcAft>
                <a:spcPts val="0"/>
              </a:spcAft>
              <a:buClr>
                <a:schemeClr val="dk1"/>
              </a:buClr>
              <a:buSzPts val="1200"/>
              <a:buChar char="●"/>
            </a:pPr>
            <a:r>
              <a:rPr lang="es" sz="1200">
                <a:solidFill>
                  <a:schemeClr val="dk1"/>
                </a:solidFill>
              </a:rPr>
              <a:t>Facilitar el control de inventario desde la plataforma.</a:t>
            </a:r>
            <a:endParaRPr sz="12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Metodología</a:t>
            </a:r>
            <a:r>
              <a:rPr lang="es"/>
              <a:t> Á</a:t>
            </a:r>
            <a:r>
              <a:rPr lang="es"/>
              <a:t>gil(Scrum)</a:t>
            </a:r>
            <a:endParaRPr/>
          </a:p>
        </p:txBody>
      </p:sp>
      <p:sp>
        <p:nvSpPr>
          <p:cNvPr id="113" name="Google Shape;113;p20"/>
          <p:cNvSpPr txBox="1"/>
          <p:nvPr/>
        </p:nvSpPr>
        <p:spPr>
          <a:xfrm>
            <a:off x="257425" y="1379750"/>
            <a:ext cx="8520600" cy="3487800"/>
          </a:xfrm>
          <a:prstGeom prst="rect">
            <a:avLst/>
          </a:prstGeom>
          <a:solidFill>
            <a:schemeClr val="lt1"/>
          </a:solid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3D85C6"/>
              </a:buClr>
              <a:buSzPts val="1200"/>
              <a:buChar char="●"/>
            </a:pPr>
            <a:r>
              <a:rPr b="1" lang="es" sz="1200">
                <a:solidFill>
                  <a:srgbClr val="3D85C6"/>
                </a:solidFill>
              </a:rPr>
              <a:t>Sprints cortos:</a:t>
            </a:r>
            <a:r>
              <a:rPr lang="es" sz="1200">
                <a:solidFill>
                  <a:srgbClr val="3D85C6"/>
                </a:solidFill>
              </a:rPr>
              <a:t> permiten organizar el trabajo por ciclos </a:t>
            </a:r>
            <a:endParaRPr sz="1200">
              <a:solidFill>
                <a:srgbClr val="3D85C6"/>
              </a:solidFill>
            </a:endParaRPr>
          </a:p>
          <a:p>
            <a:pPr indent="0" lvl="0" marL="457200" rtl="0" algn="l">
              <a:spcBef>
                <a:spcPts val="0"/>
              </a:spcBef>
              <a:spcAft>
                <a:spcPts val="0"/>
              </a:spcAft>
              <a:buNone/>
            </a:pPr>
            <a:r>
              <a:t/>
            </a:r>
            <a:endParaRPr sz="1200">
              <a:solidFill>
                <a:srgbClr val="3D85C6"/>
              </a:solidFill>
            </a:endParaRPr>
          </a:p>
          <a:p>
            <a:pPr indent="-304800" lvl="0" marL="457200" rtl="0" algn="l">
              <a:spcBef>
                <a:spcPts val="0"/>
              </a:spcBef>
              <a:spcAft>
                <a:spcPts val="0"/>
              </a:spcAft>
              <a:buClr>
                <a:srgbClr val="3D85C6"/>
              </a:buClr>
              <a:buSzPts val="1200"/>
              <a:buChar char="●"/>
            </a:pPr>
            <a:r>
              <a:rPr b="1" lang="es" sz="1200">
                <a:solidFill>
                  <a:srgbClr val="3D85C6"/>
                </a:solidFill>
              </a:rPr>
              <a:t>Reuniones ágiles: </a:t>
            </a:r>
            <a:r>
              <a:rPr lang="es" sz="1200">
                <a:solidFill>
                  <a:srgbClr val="3D85C6"/>
                </a:solidFill>
              </a:rPr>
              <a:t>que mejoran comunicación y control.</a:t>
            </a:r>
            <a:endParaRPr sz="1200">
              <a:solidFill>
                <a:srgbClr val="3D85C6"/>
              </a:solidFill>
            </a:endParaRPr>
          </a:p>
          <a:p>
            <a:pPr indent="0" lvl="0" marL="457200" rtl="0" algn="l">
              <a:spcBef>
                <a:spcPts val="0"/>
              </a:spcBef>
              <a:spcAft>
                <a:spcPts val="0"/>
              </a:spcAft>
              <a:buNone/>
            </a:pPr>
            <a:r>
              <a:t/>
            </a:r>
            <a:endParaRPr sz="1200">
              <a:solidFill>
                <a:srgbClr val="3D85C6"/>
              </a:solidFill>
            </a:endParaRPr>
          </a:p>
          <a:p>
            <a:pPr indent="-304800" lvl="0" marL="457200" rtl="0" algn="l">
              <a:spcBef>
                <a:spcPts val="0"/>
              </a:spcBef>
              <a:spcAft>
                <a:spcPts val="0"/>
              </a:spcAft>
              <a:buClr>
                <a:srgbClr val="3D85C6"/>
              </a:buClr>
              <a:buSzPts val="1200"/>
              <a:buChar char="●"/>
            </a:pPr>
            <a:r>
              <a:rPr b="1" lang="es" sz="1200">
                <a:solidFill>
                  <a:srgbClr val="3D85C6"/>
                </a:solidFill>
              </a:rPr>
              <a:t>Entregas funcionales:</a:t>
            </a:r>
            <a:r>
              <a:rPr lang="es" sz="1200">
                <a:solidFill>
                  <a:srgbClr val="3D85C6"/>
                </a:solidFill>
              </a:rPr>
              <a:t> al final de cada sprint aseguran avances visibles.</a:t>
            </a:r>
            <a:endParaRPr sz="1200">
              <a:solidFill>
                <a:srgbClr val="3D85C6"/>
              </a:solidFill>
            </a:endParaRPr>
          </a:p>
          <a:p>
            <a:pPr indent="0" lvl="0" marL="457200" rtl="0" algn="l">
              <a:spcBef>
                <a:spcPts val="0"/>
              </a:spcBef>
              <a:spcAft>
                <a:spcPts val="0"/>
              </a:spcAft>
              <a:buNone/>
            </a:pPr>
            <a:r>
              <a:t/>
            </a:r>
            <a:endParaRPr sz="1200">
              <a:solidFill>
                <a:srgbClr val="3D85C6"/>
              </a:solidFill>
            </a:endParaRPr>
          </a:p>
          <a:p>
            <a:pPr indent="-304800" lvl="0" marL="457200" rtl="0" algn="l">
              <a:spcBef>
                <a:spcPts val="0"/>
              </a:spcBef>
              <a:spcAft>
                <a:spcPts val="0"/>
              </a:spcAft>
              <a:buClr>
                <a:srgbClr val="3D85C6"/>
              </a:buClr>
              <a:buSzPts val="1200"/>
              <a:buChar char="●"/>
            </a:pPr>
            <a:r>
              <a:rPr b="1" lang="es" sz="1200">
                <a:solidFill>
                  <a:srgbClr val="3D85C6"/>
                </a:solidFill>
              </a:rPr>
              <a:t>Roles claros</a:t>
            </a:r>
            <a:r>
              <a:rPr lang="es" sz="1200">
                <a:solidFill>
                  <a:srgbClr val="3D85C6"/>
                </a:solidFill>
              </a:rPr>
              <a:t>: Product Owner, Scrum Master y Equipo bien definidos.</a:t>
            </a:r>
            <a:endParaRPr sz="1200">
              <a:solidFill>
                <a:srgbClr val="3D85C6"/>
              </a:solidFill>
            </a:endParaRPr>
          </a:p>
          <a:p>
            <a:pPr indent="0" lvl="0" marL="457200" rtl="0" algn="l">
              <a:spcBef>
                <a:spcPts val="0"/>
              </a:spcBef>
              <a:spcAft>
                <a:spcPts val="0"/>
              </a:spcAft>
              <a:buNone/>
            </a:pPr>
            <a:r>
              <a:t/>
            </a:r>
            <a:endParaRPr sz="1200">
              <a:solidFill>
                <a:srgbClr val="3D85C6"/>
              </a:solidFill>
            </a:endParaRPr>
          </a:p>
          <a:p>
            <a:pPr indent="-304800" lvl="0" marL="457200" rtl="0" algn="l">
              <a:spcBef>
                <a:spcPts val="0"/>
              </a:spcBef>
              <a:spcAft>
                <a:spcPts val="0"/>
              </a:spcAft>
              <a:buClr>
                <a:srgbClr val="3D85C6"/>
              </a:buClr>
              <a:buSzPts val="1200"/>
              <a:buChar char="●"/>
            </a:pPr>
            <a:r>
              <a:rPr b="1" lang="es" sz="1200">
                <a:solidFill>
                  <a:srgbClr val="3D85C6"/>
                </a:solidFill>
              </a:rPr>
              <a:t>Ideal para proyectos cortos</a:t>
            </a:r>
            <a:r>
              <a:rPr lang="es" sz="1200">
                <a:solidFill>
                  <a:srgbClr val="3D85C6"/>
                </a:solidFill>
              </a:rPr>
              <a:t>: enfoque incremental y mejora continua.</a:t>
            </a:r>
            <a:endParaRPr sz="1200">
              <a:solidFill>
                <a:srgbClr val="3D85C6"/>
              </a:solidFill>
            </a:endParaRPr>
          </a:p>
          <a:p>
            <a:pPr indent="0" lvl="0" marL="457200" rtl="0" algn="l">
              <a:spcBef>
                <a:spcPts val="0"/>
              </a:spcBef>
              <a:spcAft>
                <a:spcPts val="0"/>
              </a:spcAft>
              <a:buNone/>
            </a:pPr>
            <a:r>
              <a:t/>
            </a:r>
            <a:endParaRPr sz="1200">
              <a:solidFill>
                <a:srgbClr val="3D85C6"/>
              </a:solidFill>
            </a:endParaRPr>
          </a:p>
          <a:p>
            <a:pPr indent="-304800" lvl="0" marL="457200" rtl="0" algn="l">
              <a:spcBef>
                <a:spcPts val="0"/>
              </a:spcBef>
              <a:spcAft>
                <a:spcPts val="0"/>
              </a:spcAft>
              <a:buClr>
                <a:srgbClr val="3D85C6"/>
              </a:buClr>
              <a:buSzPts val="1200"/>
              <a:buChar char="●"/>
            </a:pPr>
            <a:r>
              <a:rPr b="1" lang="es" sz="1200">
                <a:solidFill>
                  <a:srgbClr val="3D85C6"/>
                </a:solidFill>
              </a:rPr>
              <a:t>Flexibilidad</a:t>
            </a:r>
            <a:r>
              <a:rPr lang="es" sz="1200">
                <a:solidFill>
                  <a:srgbClr val="3D85C6"/>
                </a:solidFill>
              </a:rPr>
              <a:t> para adaptarse a cambios o mejoras durante el desarrollo.</a:t>
            </a:r>
            <a:endParaRPr sz="1200">
              <a:solidFill>
                <a:srgbClr val="3D85C6"/>
              </a:solidFill>
            </a:endParaRPr>
          </a:p>
          <a:p>
            <a:pPr indent="0" lvl="0" marL="457200" rtl="0" algn="l">
              <a:spcBef>
                <a:spcPts val="0"/>
              </a:spcBef>
              <a:spcAft>
                <a:spcPts val="0"/>
              </a:spcAft>
              <a:buNone/>
            </a:pPr>
            <a:r>
              <a:t/>
            </a:r>
            <a:endParaRPr sz="1200">
              <a:solidFill>
                <a:srgbClr val="3D85C6"/>
              </a:solidFill>
            </a:endParaRPr>
          </a:p>
          <a:p>
            <a:pPr indent="0" lvl="0" marL="0" rtl="0" algn="l">
              <a:spcBef>
                <a:spcPts val="0"/>
              </a:spcBef>
              <a:spcAft>
                <a:spcPts val="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Plan De Trabajo</a:t>
            </a:r>
            <a:endParaRPr/>
          </a:p>
        </p:txBody>
      </p:sp>
      <p:pic>
        <p:nvPicPr>
          <p:cNvPr id="119" name="Google Shape;119;p21"/>
          <p:cNvPicPr preferRelativeResize="0"/>
          <p:nvPr/>
        </p:nvPicPr>
        <p:blipFill>
          <a:blip r:embed="rId3">
            <a:alphaModFix/>
          </a:blip>
          <a:stretch>
            <a:fillRect/>
          </a:stretch>
        </p:blipFill>
        <p:spPr>
          <a:xfrm>
            <a:off x="750475" y="1124625"/>
            <a:ext cx="7360175" cy="3987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Evidencias</a:t>
            </a:r>
            <a:r>
              <a:rPr lang="es"/>
              <a:t> y </a:t>
            </a:r>
            <a:r>
              <a:rPr lang="es"/>
              <a:t>Justificación</a:t>
            </a:r>
            <a:endParaRPr/>
          </a:p>
        </p:txBody>
      </p:sp>
      <p:pic>
        <p:nvPicPr>
          <p:cNvPr id="125" name="Google Shape;125;p22"/>
          <p:cNvPicPr preferRelativeResize="0"/>
          <p:nvPr/>
        </p:nvPicPr>
        <p:blipFill>
          <a:blip r:embed="rId3">
            <a:alphaModFix/>
          </a:blip>
          <a:stretch>
            <a:fillRect/>
          </a:stretch>
        </p:blipFill>
        <p:spPr>
          <a:xfrm>
            <a:off x="729975" y="1287150"/>
            <a:ext cx="6120048" cy="3714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Conclusión</a:t>
            </a:r>
            <a:endParaRPr/>
          </a:p>
        </p:txBody>
      </p:sp>
      <p:sp>
        <p:nvSpPr>
          <p:cNvPr id="131" name="Google Shape;131;p23"/>
          <p:cNvSpPr txBox="1"/>
          <p:nvPr/>
        </p:nvSpPr>
        <p:spPr>
          <a:xfrm>
            <a:off x="631950" y="1593600"/>
            <a:ext cx="6328500" cy="25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dk1"/>
                </a:solidFill>
                <a:latin typeface="Roboto"/>
                <a:ea typeface="Roboto"/>
                <a:cs typeface="Roboto"/>
                <a:sym typeface="Roboto"/>
              </a:rPr>
              <a:t>El proyecto </a:t>
            </a:r>
            <a:r>
              <a:rPr b="1" lang="es" sz="1300">
                <a:solidFill>
                  <a:schemeClr val="dk1"/>
                </a:solidFill>
                <a:latin typeface="Roboto"/>
                <a:ea typeface="Roboto"/>
                <a:cs typeface="Roboto"/>
                <a:sym typeface="Roboto"/>
              </a:rPr>
              <a:t>DataEasy</a:t>
            </a:r>
            <a:r>
              <a:rPr lang="es" sz="1300">
                <a:solidFill>
                  <a:schemeClr val="dk1"/>
                </a:solidFill>
                <a:latin typeface="Roboto"/>
                <a:ea typeface="Roboto"/>
                <a:cs typeface="Roboto"/>
                <a:sym typeface="Roboto"/>
              </a:rPr>
              <a:t> demuestra que es posible aplicar de manera práctica los conocimientos adquiridos durante la carrera en un sistema útil y funcional para las PYMEs. Su desarrollo integra competencias en programación, gestión de proyectos, diseño de bases de datos y validación de procesos, logrando una solución factible dentro del marco académico.</a:t>
            </a:r>
            <a:endParaRPr sz="13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